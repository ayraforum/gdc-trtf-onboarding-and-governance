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  <p:sldMasterId id="2147483670" r:id="rId6"/>
    <p:sldMasterId id="214748367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5" Type="http://schemas.openxmlformats.org/officeDocument/2006/relationships/font" Target="fonts/HelveticaNeueLight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2e8f9e5e0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e2e8f9e5e0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e2e8f9e5e0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2e8f9e5e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2e8f9e5e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2e8f9e5e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2e8f9e5e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2e8f9e5e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2e8f9e5e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high level scenarios:</a:t>
            </a:r>
            <a:br>
              <a:rPr lang="en"/>
            </a:br>
            <a:r>
              <a:rPr lang="en"/>
              <a:t>1) Institutional access to (international) resources</a:t>
            </a:r>
            <a:br>
              <a:rPr lang="en"/>
            </a:br>
            <a:r>
              <a:rPr lang="en"/>
              <a:t>2) Global scientific collaborations like CERN, LIGO. with very expensive resources (LUMI supercomputer) and sensitive data like is used in the healthcare collaborations </a:t>
            </a:r>
            <a:br>
              <a:rPr lang="en"/>
            </a:br>
            <a:r>
              <a:rPr lang="en"/>
              <a:t>3) University alliances and international student mobility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2e8f9e5e0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2e8f9e5e0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use of SAML federation metadata and its challanges</a:t>
            </a:r>
            <a:endParaRPr/>
          </a:p>
        </p:txBody>
      </p:sp>
      <p:sp>
        <p:nvSpPr>
          <p:cNvPr id="179" name="Google Shape;179;g3e2e8f9e5e0_0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2e8f9e5e0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2e8f9e5e0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countries also outside of EU</a:t>
            </a:r>
            <a:br>
              <a:rPr lang="en"/>
            </a:br>
            <a:r>
              <a:rPr lang="en"/>
              <a:t>Existing infra up to 20 years of experience</a:t>
            </a:r>
            <a:br>
              <a:rPr lang="en"/>
            </a:br>
            <a:r>
              <a:rPr lang="en"/>
              <a:t>Covering many of the larger EU countries and many millions of users</a:t>
            </a:r>
            <a:endParaRPr/>
          </a:p>
        </p:txBody>
      </p:sp>
      <p:sp>
        <p:nvSpPr>
          <p:cNvPr id="194" name="Google Shape;194;g3e2e8f9e5e0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2e8f9e5e0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2e8f9e5e0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model where the eduGAIN interfederation can build upon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national federation for onboarding entities, eduGAIN is a Trust Mark Issuer. The trust marks is a key capability of the OpenID Federation protocol which allows eduGAIN to “pixy dust” entities onboarded in national federation with additional trust so they can be part of the interfaderation  </a:t>
            </a:r>
            <a:endParaRPr/>
          </a:p>
        </p:txBody>
      </p:sp>
      <p:sp>
        <p:nvSpPr>
          <p:cNvPr id="202" name="Google Shape;202;g3e2e8f9e5e0_0_1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2e8f9e5e0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2e8f9e5e0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e2e8f9e5e0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2e8f9e5e0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e2e8f9e5e0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2e8f9e5e0_0_2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orange)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02021" y="707228"/>
            <a:ext cx="8340000" cy="30447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11568" sx="102000" rotWithShape="0" algn="ctr" sy="102000">
              <a:srgbClr val="000000">
                <a:alpha val="86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650365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2510122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/>
        </p:nvSpPr>
        <p:spPr>
          <a:xfrm>
            <a:off x="199157" y="4932400"/>
            <a:ext cx="133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|   openid.net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-25090" y="4932400"/>
            <a:ext cx="33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2"/>
          <p:cNvCxnSpPr/>
          <p:nvPr/>
        </p:nvCxnSpPr>
        <p:spPr>
          <a:xfrm>
            <a:off x="966598" y="5026412"/>
            <a:ext cx="7210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0285" y="4828890"/>
            <a:ext cx="792481" cy="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/>
          <p:nvPr/>
        </p:nvSpPr>
        <p:spPr>
          <a:xfrm>
            <a:off x="0" y="4268513"/>
            <a:ext cx="9144000" cy="88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3" name="Google Shape;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3174" y="4060559"/>
            <a:ext cx="2417654" cy="8791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2"/>
          <p:cNvGrpSpPr/>
          <p:nvPr/>
        </p:nvGrpSpPr>
        <p:grpSpPr>
          <a:xfrm>
            <a:off x="3416925" y="4002213"/>
            <a:ext cx="2406534" cy="1094888"/>
            <a:chOff x="6338850" y="3820863"/>
            <a:chExt cx="2406534" cy="1094888"/>
          </a:xfrm>
        </p:grpSpPr>
        <p:pic>
          <p:nvPicPr>
            <p:cNvPr id="25" name="Google Shape;25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38850" y="3820863"/>
              <a:ext cx="2330153" cy="1094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26;p2"/>
            <p:cNvSpPr txBox="1"/>
            <p:nvPr/>
          </p:nvSpPr>
          <p:spPr>
            <a:xfrm>
              <a:off x="8407584" y="4203882"/>
              <a:ext cx="33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®</a:t>
              </a:r>
              <a:endParaRPr sz="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orange) 1">
  <p:cSld name="TITLE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6875" y="-20050"/>
            <a:ext cx="4428600" cy="51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140125" y="0"/>
            <a:ext cx="3903600" cy="51435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/>
          <p:nvPr>
            <p:ph type="ctrTitle"/>
          </p:nvPr>
        </p:nvSpPr>
        <p:spPr>
          <a:xfrm>
            <a:off x="532200" y="1894725"/>
            <a:ext cx="40392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"/>
              <a:buNone/>
              <a:defRPr sz="4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descr="A picture containing text, clipart&#10;&#10;Description automatically generated"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440" y="454475"/>
            <a:ext cx="4275950" cy="15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orange) 1 1">
  <p:cSld name="TITLE_1_1">
    <p:bg>
      <p:bgPr>
        <a:solidFill>
          <a:schemeClr val="l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4627650"/>
            <a:ext cx="9159900" cy="51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>
            <p:ph type="ctrTitle"/>
          </p:nvPr>
        </p:nvSpPr>
        <p:spPr>
          <a:xfrm>
            <a:off x="4798500" y="1208550"/>
            <a:ext cx="40392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 flipH="1">
            <a:off x="-150" y="0"/>
            <a:ext cx="4597800" cy="4207800"/>
          </a:xfrm>
          <a:prstGeom prst="teardrop">
            <a:avLst>
              <a:gd fmla="val 99994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9240000" dist="47625">
              <a:srgbClr val="B45F06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707610" y="1293615"/>
            <a:ext cx="3002392" cy="1365982"/>
            <a:chOff x="6338850" y="3820863"/>
            <a:chExt cx="2406534" cy="1094888"/>
          </a:xfrm>
        </p:grpSpPr>
        <p:pic>
          <p:nvPicPr>
            <p:cNvPr id="37" name="Google Shape;37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38850" y="3820863"/>
              <a:ext cx="2330153" cy="1094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4"/>
            <p:cNvSpPr txBox="1"/>
            <p:nvPr/>
          </p:nvSpPr>
          <p:spPr>
            <a:xfrm>
              <a:off x="8407584" y="4203882"/>
              <a:ext cx="33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050" lIns="114050" spcFirstLastPara="1" rIns="114050" wrap="square" tIns="11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3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®</a:t>
              </a:r>
              <a:endParaRPr sz="1123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628650" y="355002"/>
            <a:ext cx="7886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rgbClr val="F691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628650" y="1223986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600"/>
              <a:buFont typeface="Helvetica Neue"/>
              <a:buChar char="•"/>
              <a:defRPr i="0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Font typeface="Helvetica Neue"/>
              <a:buChar char="−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845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100"/>
              <a:buFont typeface="Helvetica Neue"/>
              <a:buChar char="•"/>
              <a:defRPr sz="11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921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Font typeface="Helvetica Neue"/>
              <a:buChar char="•"/>
              <a:defRPr sz="1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921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000"/>
              <a:buFont typeface="Helvetica Neue"/>
              <a:buChar char="•"/>
              <a:defRPr sz="1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921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Helvetica Neue"/>
              <a:buChar char="•"/>
              <a:defRPr sz="1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921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Helvetica Neue"/>
              <a:buChar char="•"/>
              <a:defRPr sz="1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921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Helvetica Neue"/>
              <a:buChar char="•"/>
              <a:defRPr sz="1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921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Helvetica Neue"/>
              <a:buChar char="•"/>
              <a:defRPr sz="1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457200" y="177863"/>
            <a:ext cx="822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457200" y="1036590"/>
            <a:ext cx="8229600" cy="3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AB3C19"/>
              </a:buClr>
              <a:buSzPts val="16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AB3C19"/>
              </a:buClr>
              <a:buSzPts val="1400"/>
              <a:buFont typeface="Helvetica Neue"/>
              <a:buChar char="−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845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AB3C19"/>
              </a:buClr>
              <a:buSzPts val="11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9845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AB3C19"/>
              </a:buClr>
              <a:buSzPts val="11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9845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AB3C19"/>
              </a:buClr>
              <a:buSzPts val="11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984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984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984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984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oxes">
  <p:cSld name="Two Boxe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355002"/>
            <a:ext cx="7886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628650" y="876300"/>
            <a:ext cx="3886200" cy="3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629150" y="876300"/>
            <a:ext cx="3886200" cy="3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−"/>
              <a:defRPr/>
            </a:lvl2pPr>
            <a:lvl3pPr indent="-3175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5646717" y="4945856"/>
            <a:ext cx="3413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xes">
  <p:cSld name="Three Boxe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628650" y="355002"/>
            <a:ext cx="7886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628651" y="861060"/>
            <a:ext cx="25791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/>
            </a:lvl2pPr>
            <a:lvl3pPr indent="-29845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/>
            </a:lvl3pPr>
            <a:lvl4pPr indent="-28575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82398" y="861060"/>
            <a:ext cx="25791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/>
            </a:lvl2pPr>
            <a:lvl3pPr indent="-29845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/>
            </a:lvl3pPr>
            <a:lvl4pPr indent="-28575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5936146" y="861060"/>
            <a:ext cx="25791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/>
            </a:lvl2pPr>
            <a:lvl3pPr indent="-29845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/>
            </a:lvl3pPr>
            <a:lvl4pPr indent="-28575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4" type="body"/>
          </p:nvPr>
        </p:nvSpPr>
        <p:spPr>
          <a:xfrm>
            <a:off x="5646717" y="4945856"/>
            <a:ext cx="3413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th Image &amp; Callout">
  <p:cSld name="With Image &amp; Callou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>
            <p:ph idx="2" type="pic"/>
          </p:nvPr>
        </p:nvSpPr>
        <p:spPr>
          <a:xfrm>
            <a:off x="5183579" y="97972"/>
            <a:ext cx="3874800" cy="45267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8" name="Google Shape;58;p9"/>
          <p:cNvSpPr txBox="1"/>
          <p:nvPr>
            <p:ph type="title"/>
          </p:nvPr>
        </p:nvSpPr>
        <p:spPr>
          <a:xfrm>
            <a:off x="628650" y="355002"/>
            <a:ext cx="7886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5646717" y="4945856"/>
            <a:ext cx="3413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628651" y="861060"/>
            <a:ext cx="35841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/>
            </a:lvl2pPr>
            <a:lvl3pPr indent="-29845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/>
            </a:lvl3pPr>
            <a:lvl4pPr indent="-28575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4755727" y="1379189"/>
            <a:ext cx="2520900" cy="28230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sx="102000" rotWithShape="0" algn="ctr" sy="102000">
              <a:srgbClr val="000000">
                <a:alpha val="8630"/>
              </a:srgbClr>
            </a:outerShdw>
          </a:effectLst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175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th Image &amp; Callout 2">
  <p:cSld name="With Image &amp; Callout 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>
            <p:ph idx="2" type="pic"/>
          </p:nvPr>
        </p:nvSpPr>
        <p:spPr>
          <a:xfrm>
            <a:off x="78130" y="2378597"/>
            <a:ext cx="8980200" cy="2246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4" name="Google Shape;64;p10"/>
          <p:cNvSpPr txBox="1"/>
          <p:nvPr>
            <p:ph type="title"/>
          </p:nvPr>
        </p:nvSpPr>
        <p:spPr>
          <a:xfrm>
            <a:off x="628650" y="355002"/>
            <a:ext cx="7886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5646717" y="4945856"/>
            <a:ext cx="3413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3" type="body"/>
          </p:nvPr>
        </p:nvSpPr>
        <p:spPr>
          <a:xfrm>
            <a:off x="628650" y="861060"/>
            <a:ext cx="5401200" cy="13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200"/>
              <a:buChar char="−"/>
              <a:defRPr sz="1200"/>
            </a:lvl2pPr>
            <a:lvl3pPr indent="-29845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100"/>
            </a:lvl3pPr>
            <a:lvl4pPr indent="-28575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4pPr>
            <a:lvl5pPr indent="-28575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9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4" type="body"/>
          </p:nvPr>
        </p:nvSpPr>
        <p:spPr>
          <a:xfrm>
            <a:off x="6283586" y="1483361"/>
            <a:ext cx="2520900" cy="28230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sx="102000" rotWithShape="0" algn="ctr" sy="102000">
              <a:srgbClr val="000000">
                <a:alpha val="8630"/>
              </a:srgbClr>
            </a:outerShdw>
          </a:effectLst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3175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s (2-up)">
  <p:cSld name="Charts (2-up)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355002"/>
            <a:ext cx="7886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/>
          <p:nvPr>
            <p:ph idx="2" type="chart"/>
          </p:nvPr>
        </p:nvSpPr>
        <p:spPr>
          <a:xfrm>
            <a:off x="628650" y="1108445"/>
            <a:ext cx="3943200" cy="3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−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1"/>
          <p:cNvSpPr/>
          <p:nvPr>
            <p:ph idx="3" type="chart"/>
          </p:nvPr>
        </p:nvSpPr>
        <p:spPr>
          <a:xfrm>
            <a:off x="4572000" y="1108445"/>
            <a:ext cx="3943200" cy="3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−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5646717" y="4945856"/>
            <a:ext cx="3413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628650" y="355002"/>
            <a:ext cx="7886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5646717" y="4945856"/>
            <a:ext cx="3413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5646717" y="4945856"/>
            <a:ext cx="3413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−"/>
              <a:defRPr/>
            </a:lvl2pPr>
            <a:lvl3pPr indent="-323850" lvl="2" marL="13716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ullet with Subtitles">
  <p:cSld name="Three Column Bullet with Subtitle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441197" y="342900"/>
            <a:ext cx="826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F2C"/>
              </a:buClr>
              <a:buSzPts val="2700"/>
              <a:buFont typeface="arial"/>
              <a:buNone/>
              <a:defRPr b="1" i="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38913" y="1078706"/>
            <a:ext cx="244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i="0" sz="1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−"/>
              <a:defRPr/>
            </a:lvl2pPr>
            <a:lvl3pPr indent="-304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2" type="body"/>
          </p:nvPr>
        </p:nvSpPr>
        <p:spPr>
          <a:xfrm>
            <a:off x="438913" y="1793081"/>
            <a:ext cx="24483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400"/>
              <a:buChar char="•"/>
              <a:defRPr b="0" i="0" sz="1500"/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−"/>
              <a:defRPr b="0" i="0" sz="1400"/>
            </a:lvl2pPr>
            <a:lvl3pPr indent="-2984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1100"/>
              <a:buChar char="•"/>
              <a:defRPr b="0" i="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900"/>
              <a:buChar char="•"/>
              <a:defRPr b="0" i="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900"/>
              <a:buChar char="•"/>
              <a:defRPr b="0" i="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3" type="body"/>
          </p:nvPr>
        </p:nvSpPr>
        <p:spPr>
          <a:xfrm>
            <a:off x="3347847" y="1078706"/>
            <a:ext cx="244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i="0" sz="1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−"/>
              <a:defRPr/>
            </a:lvl2pPr>
            <a:lvl3pPr indent="-304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4" type="body"/>
          </p:nvPr>
        </p:nvSpPr>
        <p:spPr>
          <a:xfrm>
            <a:off x="3347847" y="1788101"/>
            <a:ext cx="24483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400"/>
              <a:buChar char="•"/>
              <a:defRPr b="0" i="0" sz="1500"/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−"/>
              <a:defRPr b="0" i="0" sz="1400"/>
            </a:lvl2pPr>
            <a:lvl3pPr indent="-2984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1100"/>
              <a:buChar char="•"/>
              <a:defRPr b="0" i="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900"/>
              <a:buChar char="•"/>
              <a:defRPr b="0" i="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900"/>
              <a:buChar char="•"/>
              <a:defRPr b="0" i="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5" type="body"/>
          </p:nvPr>
        </p:nvSpPr>
        <p:spPr>
          <a:xfrm>
            <a:off x="6256781" y="1078706"/>
            <a:ext cx="244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b="1" i="0" sz="1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−"/>
              <a:defRPr/>
            </a:lvl2pPr>
            <a:lvl3pPr indent="-304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•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6" type="body"/>
          </p:nvPr>
        </p:nvSpPr>
        <p:spPr>
          <a:xfrm>
            <a:off x="6256781" y="1793081"/>
            <a:ext cx="24483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400"/>
              <a:buChar char="•"/>
              <a:defRPr b="0" i="0" sz="1500"/>
            </a:lvl1pPr>
            <a:lvl2pPr indent="-304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2C"/>
              </a:buClr>
              <a:buSzPts val="1200"/>
              <a:buChar char="−"/>
              <a:defRPr b="0" i="0" sz="1400"/>
            </a:lvl2pPr>
            <a:lvl3pPr indent="-2984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1100"/>
              <a:buChar char="•"/>
              <a:defRPr b="0" i="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900"/>
              <a:buChar char="•"/>
              <a:defRPr b="0" i="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91F2C"/>
              </a:buClr>
              <a:buSzPts val="900"/>
              <a:buChar char="•"/>
              <a:defRPr b="0" i="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1129">
          <p15:clr>
            <a:srgbClr val="5ACBF0"/>
          </p15:clr>
        </p15:guide>
        <p15:guide id="2" orient="horz" pos="679">
          <p15:clr>
            <a:srgbClr val="5ACBF0"/>
          </p15:clr>
        </p15:guide>
        <p15:guide id="3" orient="horz" pos="216">
          <p15:clr>
            <a:srgbClr val="5ACBF0"/>
          </p15:clr>
        </p15:guide>
        <p15:guide id="4" pos="1823">
          <p15:clr>
            <a:srgbClr val="5ACBF0"/>
          </p15:clr>
        </p15:guide>
        <p15:guide id="5" pos="2108">
          <p15:clr>
            <a:srgbClr val="5ACBF0"/>
          </p15:clr>
        </p15:guide>
        <p15:guide id="6" pos="3653">
          <p15:clr>
            <a:srgbClr val="5ACBF0"/>
          </p15:clr>
        </p15:guide>
        <p15:guide id="7" pos="3938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0" y="25147"/>
            <a:ext cx="78867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5" name="Google Shape;95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6726"/>
            <a:ext cx="9024300" cy="4753800"/>
          </a:xfrm>
          <a:prstGeom prst="rect">
            <a:avLst/>
          </a:prstGeom>
          <a:solidFill>
            <a:srgbClr val="3034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2">
            <a:alphaModFix/>
          </a:blip>
          <a:srcRect b="8000" l="13286" r="43126" t="60629"/>
          <a:stretch/>
        </p:blipFill>
        <p:spPr>
          <a:xfrm>
            <a:off x="533399" y="-16726"/>
            <a:ext cx="8610599" cy="43689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9565" y="3624158"/>
            <a:ext cx="9134400" cy="1531800"/>
          </a:xfrm>
          <a:prstGeom prst="rect">
            <a:avLst/>
          </a:prstGeom>
          <a:solidFill>
            <a:srgbClr val="425E9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15505" l="0" r="0" t="0"/>
          <a:stretch/>
        </p:blipFill>
        <p:spPr>
          <a:xfrm>
            <a:off x="639407" y="511619"/>
            <a:ext cx="1074337" cy="51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558265" y="1735808"/>
            <a:ext cx="74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b="1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558265" y="2083227"/>
            <a:ext cx="78333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8"/>
          <p:cNvSpPr/>
          <p:nvPr/>
        </p:nvSpPr>
        <p:spPr>
          <a:xfrm>
            <a:off x="8278304" y="4287618"/>
            <a:ext cx="880129" cy="880129"/>
          </a:xfrm>
          <a:custGeom>
            <a:rect b="b" l="l" r="r" t="t"/>
            <a:pathLst>
              <a:path extrusionOk="0" h="1402596" w="1402596">
                <a:moveTo>
                  <a:pt x="0" y="1402596"/>
                </a:moveTo>
                <a:lnTo>
                  <a:pt x="1402596" y="0"/>
                </a:lnTo>
                <a:lnTo>
                  <a:pt x="1402596" y="1402596"/>
                </a:lnTo>
                <a:lnTo>
                  <a:pt x="0" y="140259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 rot="-2661201">
            <a:off x="7904463" y="4238473"/>
            <a:ext cx="1228458" cy="580550"/>
          </a:xfrm>
          <a:custGeom>
            <a:rect b="b" l="l" r="r" t="t"/>
            <a:pathLst>
              <a:path extrusionOk="0" h="780013" w="1568570">
                <a:moveTo>
                  <a:pt x="0" y="780013"/>
                </a:moveTo>
                <a:cubicBezTo>
                  <a:pt x="22577" y="772854"/>
                  <a:pt x="614066" y="457407"/>
                  <a:pt x="805448" y="0"/>
                </a:cubicBezTo>
                <a:cubicBezTo>
                  <a:pt x="1338525" y="651398"/>
                  <a:pt x="1577484" y="756042"/>
                  <a:pt x="1568317" y="756181"/>
                </a:cubicBezTo>
                <a:lnTo>
                  <a:pt x="0" y="780013"/>
                </a:lnTo>
                <a:close/>
              </a:path>
            </a:pathLst>
          </a:custGeom>
          <a:solidFill>
            <a:srgbClr val="3033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8468434" y="4806522"/>
            <a:ext cx="752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26D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EE426D"/>
                </a:solidFill>
                <a:latin typeface="Calibri"/>
                <a:ea typeface="Calibri"/>
                <a:cs typeface="Calibri"/>
                <a:sym typeface="Calibri"/>
              </a:rPr>
              <a:t>GN5-</a:t>
            </a:r>
            <a:r>
              <a:rPr b="1" lang="en" sz="1500">
                <a:solidFill>
                  <a:srgbClr val="EE426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500" u="none" cap="none" strike="noStrike">
              <a:solidFill>
                <a:srgbClr val="EE42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Page">
  <p:cSld name="Basic Pag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589506" y="384740"/>
            <a:ext cx="427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40894" y="292719"/>
            <a:ext cx="70428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270"/>
              </a:buClr>
              <a:buSzPts val="1800"/>
              <a:buFont typeface="Calibri"/>
              <a:buNone/>
              <a:defRPr b="1" sz="1800" cap="none">
                <a:solidFill>
                  <a:srgbClr val="1F42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589506" y="4876615"/>
            <a:ext cx="427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 rotWithShape="1">
          <a:blip r:embed="rId2">
            <a:alphaModFix/>
          </a:blip>
          <a:srcRect b="18334" l="0" r="0" t="0"/>
          <a:stretch/>
        </p:blipFill>
        <p:spPr>
          <a:xfrm>
            <a:off x="8090390" y="4553525"/>
            <a:ext cx="824271" cy="38357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37042" y="1175722"/>
            <a:ext cx="78333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337042" y="550631"/>
            <a:ext cx="74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100"/>
              <a:buFont typeface="Calibri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/>
          <p:nvPr/>
        </p:nvSpPr>
        <p:spPr>
          <a:xfrm>
            <a:off x="0" y="-16726"/>
            <a:ext cx="9144000" cy="5132100"/>
          </a:xfrm>
          <a:prstGeom prst="rect">
            <a:avLst/>
          </a:prstGeom>
          <a:solidFill>
            <a:srgbClr val="3034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 rotWithShape="1">
          <a:blip r:embed="rId2">
            <a:alphaModFix/>
          </a:blip>
          <a:srcRect b="8000" l="13286" r="43126" t="60629"/>
          <a:stretch/>
        </p:blipFill>
        <p:spPr>
          <a:xfrm>
            <a:off x="533399" y="-16726"/>
            <a:ext cx="8610599" cy="4368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/>
          <p:nvPr/>
        </p:nvSpPr>
        <p:spPr>
          <a:xfrm>
            <a:off x="0" y="3621023"/>
            <a:ext cx="9144000" cy="1539000"/>
          </a:xfrm>
          <a:prstGeom prst="rect">
            <a:avLst/>
          </a:prstGeom>
          <a:solidFill>
            <a:srgbClr val="425E9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 b="15505" l="0" r="0" t="0"/>
          <a:stretch/>
        </p:blipFill>
        <p:spPr>
          <a:xfrm>
            <a:off x="639407" y="511619"/>
            <a:ext cx="1074337" cy="51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>
            <p:ph type="title"/>
          </p:nvPr>
        </p:nvSpPr>
        <p:spPr>
          <a:xfrm>
            <a:off x="558265" y="1640558"/>
            <a:ext cx="74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b="1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558265" y="1987977"/>
            <a:ext cx="78333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4"/>
          <p:cNvSpPr txBox="1"/>
          <p:nvPr/>
        </p:nvSpPr>
        <p:spPr>
          <a:xfrm>
            <a:off x="558265" y="3977659"/>
            <a:ext cx="41010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www.geant.org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text, email&#10;&#10;Description automatically generated" id="142" name="Google Shape;1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142" y="4368102"/>
            <a:ext cx="1488583" cy="311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6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704004"/>
            <a:ext cx="9144000" cy="439500"/>
          </a:xfrm>
          <a:prstGeom prst="rect">
            <a:avLst/>
          </a:prstGeom>
          <a:solidFill>
            <a:srgbClr val="F7931F"/>
          </a:solidFill>
          <a:ln>
            <a:noFill/>
          </a:ln>
          <a:effectLst>
            <a:outerShdw blurRad="190500" sx="102000" rotWithShape="0" algn="ctr" sy="102000">
              <a:srgbClr val="000000">
                <a:alpha val="86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628650" y="355002"/>
            <a:ext cx="7886700" cy="7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None/>
              <a:defRPr b="1" i="0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28650" y="1223986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34672" y="4932400"/>
            <a:ext cx="33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36853" y="4704000"/>
            <a:ext cx="1470300" cy="4395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1"/>
          <p:cNvGrpSpPr/>
          <p:nvPr/>
        </p:nvGrpSpPr>
        <p:grpSpPr>
          <a:xfrm>
            <a:off x="3952931" y="4733525"/>
            <a:ext cx="1238135" cy="380450"/>
            <a:chOff x="4980231" y="4159800"/>
            <a:chExt cx="1238135" cy="380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1">
              <a:alphaModFix/>
            </a:blip>
            <a:srcRect b="10670" l="0" r="0" t="21886"/>
            <a:stretch/>
          </p:blipFill>
          <p:spPr>
            <a:xfrm>
              <a:off x="4980231" y="4159800"/>
              <a:ext cx="1200500" cy="380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1"/>
            <p:cNvSpPr txBox="1"/>
            <p:nvPr/>
          </p:nvSpPr>
          <p:spPr>
            <a:xfrm>
              <a:off x="6044366" y="4229014"/>
              <a:ext cx="174000" cy="1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100" lIns="47100" spcFirstLastPara="1" rIns="47100" wrap="square" tIns="471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64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®</a:t>
              </a:r>
              <a:endParaRPr sz="464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0" y="-16726"/>
            <a:ext cx="9144000" cy="5132100"/>
          </a:xfrm>
          <a:prstGeom prst="rect">
            <a:avLst/>
          </a:prstGeom>
          <a:solidFill>
            <a:srgbClr val="3034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1">
            <a:alphaModFix/>
          </a:blip>
          <a:srcRect b="8000" l="13286" r="43126" t="60629"/>
          <a:stretch/>
        </p:blipFill>
        <p:spPr>
          <a:xfrm>
            <a:off x="533399" y="-16726"/>
            <a:ext cx="8610599" cy="436890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/>
          <p:nvPr/>
        </p:nvSpPr>
        <p:spPr>
          <a:xfrm>
            <a:off x="0" y="3621023"/>
            <a:ext cx="9144000" cy="1539000"/>
          </a:xfrm>
          <a:prstGeom prst="rect">
            <a:avLst/>
          </a:prstGeom>
          <a:solidFill>
            <a:srgbClr val="425E9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2">
            <a:alphaModFix/>
          </a:blip>
          <a:srcRect b="15505" l="0" r="0" t="0"/>
          <a:stretch/>
        </p:blipFill>
        <p:spPr>
          <a:xfrm>
            <a:off x="639407" y="511619"/>
            <a:ext cx="1074337" cy="51728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37042" y="688893"/>
            <a:ext cx="785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100"/>
              <a:buFont typeface="Calibri"/>
              <a:buNone/>
              <a:defRPr b="1" i="0" sz="21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37041" y="1174793"/>
            <a:ext cx="7854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65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65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65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E4E79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9"/>
          <p:cNvSpPr/>
          <p:nvPr/>
        </p:nvSpPr>
        <p:spPr>
          <a:xfrm>
            <a:off x="0" y="-28736"/>
            <a:ext cx="9144000" cy="445200"/>
          </a:xfrm>
          <a:prstGeom prst="rect">
            <a:avLst/>
          </a:prstGeom>
          <a:solidFill>
            <a:srgbClr val="1D286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7984853" y="79008"/>
            <a:ext cx="502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|</a:t>
            </a:r>
            <a:endParaRPr sz="1100"/>
          </a:p>
        </p:txBody>
      </p:sp>
      <p:sp>
        <p:nvSpPr>
          <p:cNvPr id="117" name="Google Shape;117;p19"/>
          <p:cNvSpPr txBox="1"/>
          <p:nvPr/>
        </p:nvSpPr>
        <p:spPr>
          <a:xfrm>
            <a:off x="8517458" y="104759"/>
            <a:ext cx="951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4E2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4E200"/>
                </a:solidFill>
                <a:latin typeface="Calibri"/>
                <a:ea typeface="Calibri"/>
                <a:cs typeface="Calibri"/>
                <a:sym typeface="Calibri"/>
              </a:rPr>
              <a:t>GN5-</a:t>
            </a:r>
            <a:r>
              <a:rPr b="1" lang="en" sz="900">
                <a:solidFill>
                  <a:srgbClr val="F4E2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900" u="none" cap="none" strike="noStrike">
              <a:solidFill>
                <a:srgbClr val="F4E2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aircraft&#10;&#10;Description automatically generated" id="118" name="Google Shape;118;p19"/>
          <p:cNvPicPr preferRelativeResize="0"/>
          <p:nvPr/>
        </p:nvPicPr>
        <p:blipFill rotWithShape="1">
          <a:blip r:embed="rId1">
            <a:alphaModFix/>
          </a:blip>
          <a:srcRect b="24139" l="10541" r="16054" t="70685"/>
          <a:stretch/>
        </p:blipFill>
        <p:spPr>
          <a:xfrm flipH="1">
            <a:off x="4" y="-28735"/>
            <a:ext cx="7714857" cy="44508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  <p:sldLayoutId id="2147483665" r:id="rId3"/>
    <p:sldLayoutId id="214748366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0" y="-16726"/>
            <a:ext cx="9144000" cy="5132100"/>
          </a:xfrm>
          <a:prstGeom prst="rect">
            <a:avLst/>
          </a:prstGeom>
          <a:solidFill>
            <a:srgbClr val="30348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 rotWithShape="1">
          <a:blip r:embed="rId1">
            <a:alphaModFix/>
          </a:blip>
          <a:srcRect b="8000" l="13286" r="43126" t="60629"/>
          <a:stretch/>
        </p:blipFill>
        <p:spPr>
          <a:xfrm>
            <a:off x="533399" y="-16726"/>
            <a:ext cx="8610599" cy="4368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/>
          <p:nvPr/>
        </p:nvSpPr>
        <p:spPr>
          <a:xfrm>
            <a:off x="0" y="3621023"/>
            <a:ext cx="9144000" cy="1539000"/>
          </a:xfrm>
          <a:prstGeom prst="rect">
            <a:avLst/>
          </a:prstGeom>
          <a:solidFill>
            <a:srgbClr val="425E9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 rotWithShape="1">
          <a:blip r:embed="rId2">
            <a:alphaModFix/>
          </a:blip>
          <a:srcRect b="15505" l="0" r="0" t="0"/>
          <a:stretch/>
        </p:blipFill>
        <p:spPr>
          <a:xfrm>
            <a:off x="639407" y="511619"/>
            <a:ext cx="1074337" cy="51728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s://edugain.or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/>
        </p:nvSpPr>
        <p:spPr>
          <a:xfrm>
            <a:off x="558265" y="2955450"/>
            <a:ext cx="56142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558265" y="4758016"/>
            <a:ext cx="50172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Public (PU)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558262" y="3889556"/>
            <a:ext cx="49473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EIC2026, Berlin,May 2026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 txBox="1"/>
          <p:nvPr>
            <p:ph type="title"/>
          </p:nvPr>
        </p:nvSpPr>
        <p:spPr>
          <a:xfrm>
            <a:off x="558265" y="1735808"/>
            <a:ext cx="74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"/>
              <a:t>eduGAIN OpenID Federation Pilot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558263" y="2883311"/>
            <a:ext cx="7833300" cy="71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Niels van Dijk (SURF) &amp; Davide Vaghetti (GARR)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1065763" y="2217075"/>
            <a:ext cx="6752400" cy="23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rgbClr val="065081"/>
                </a:solidFill>
                <a:latin typeface="Calibri"/>
                <a:ea typeface="Calibri"/>
                <a:cs typeface="Calibri"/>
                <a:sym typeface="Calibri"/>
              </a:rPr>
              <a:t>“eduGAIN </a:t>
            </a:r>
            <a:r>
              <a:rPr b="1" i="1" lang="en" sz="2700">
                <a:solidFill>
                  <a:srgbClr val="065081"/>
                </a:solidFill>
                <a:latin typeface="Calibri"/>
                <a:ea typeface="Calibri"/>
                <a:cs typeface="Calibri"/>
                <a:sym typeface="Calibri"/>
              </a:rPr>
              <a:t>interfederation service</a:t>
            </a:r>
            <a:r>
              <a:rPr i="1" lang="en" sz="2700">
                <a:solidFill>
                  <a:srgbClr val="065081"/>
                </a:solidFill>
                <a:latin typeface="Calibri"/>
                <a:ea typeface="Calibri"/>
                <a:cs typeface="Calibri"/>
                <a:sym typeface="Calibri"/>
              </a:rPr>
              <a:t> connects identity federations around the world, simplifying </a:t>
            </a:r>
            <a:r>
              <a:rPr b="1" i="1" lang="en" sz="2700">
                <a:solidFill>
                  <a:srgbClr val="065081"/>
                </a:solidFill>
                <a:latin typeface="Calibri"/>
                <a:ea typeface="Calibri"/>
                <a:cs typeface="Calibri"/>
                <a:sym typeface="Calibri"/>
              </a:rPr>
              <a:t>access</a:t>
            </a:r>
            <a:r>
              <a:rPr i="1" lang="en" sz="2700">
                <a:solidFill>
                  <a:srgbClr val="065081"/>
                </a:solidFill>
                <a:latin typeface="Calibri"/>
                <a:ea typeface="Calibri"/>
                <a:cs typeface="Calibri"/>
                <a:sym typeface="Calibri"/>
              </a:rPr>
              <a:t> to content, services and resources for the </a:t>
            </a:r>
            <a:r>
              <a:rPr b="1" i="1" lang="en" sz="2700">
                <a:solidFill>
                  <a:srgbClr val="065081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i="1" lang="en" sz="2700">
                <a:solidFill>
                  <a:srgbClr val="065081"/>
                </a:solidFill>
                <a:latin typeface="Calibri"/>
                <a:ea typeface="Calibri"/>
                <a:cs typeface="Calibri"/>
                <a:sym typeface="Calibri"/>
              </a:rPr>
              <a:t> research and education community”</a:t>
            </a:r>
            <a:endParaRPr i="1" sz="2700">
              <a:solidFill>
                <a:srgbClr val="06508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263" y="748420"/>
            <a:ext cx="3427476" cy="8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40894" y="368919"/>
            <a:ext cx="7043100" cy="564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65081"/>
                </a:solidFill>
              </a:rPr>
              <a:t>eduGAIN Global Coverage</a:t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6568650" y="1183424"/>
            <a:ext cx="2575351" cy="3321934"/>
          </a:xfrm>
          <a:custGeom>
            <a:rect b="b" l="l" r="r" t="t"/>
            <a:pathLst>
              <a:path extrusionOk="0" h="187786" w="150035">
                <a:moveTo>
                  <a:pt x="343" y="0"/>
                </a:moveTo>
                <a:lnTo>
                  <a:pt x="150035" y="0"/>
                </a:lnTo>
                <a:lnTo>
                  <a:pt x="99718" y="187786"/>
                </a:lnTo>
                <a:lnTo>
                  <a:pt x="0" y="187786"/>
                </a:lnTo>
                <a:close/>
              </a:path>
            </a:pathLst>
          </a:custGeom>
          <a:solidFill>
            <a:srgbClr val="E5994A"/>
          </a:solidFill>
          <a:ln>
            <a:noFill/>
          </a:ln>
        </p:spPr>
      </p:sp>
      <p:sp>
        <p:nvSpPr>
          <p:cNvPr id="165" name="Google Shape;165;p27"/>
          <p:cNvSpPr txBox="1"/>
          <p:nvPr/>
        </p:nvSpPr>
        <p:spPr>
          <a:xfrm>
            <a:off x="6544725" y="1187325"/>
            <a:ext cx="2575200" cy="30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84 </a:t>
            </a:r>
            <a:r>
              <a:rPr b="0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Federations</a:t>
            </a:r>
            <a:endParaRPr b="0" i="0" sz="2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 10k</a:t>
            </a:r>
            <a:r>
              <a:rPr lang="en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endParaRPr b="1"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6333</a:t>
            </a:r>
            <a:r>
              <a:rPr b="0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 Providers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3998</a:t>
            </a:r>
            <a:r>
              <a:rPr b="0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Providers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20" y="1283798"/>
            <a:ext cx="6316126" cy="312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114300" y="4808325"/>
            <a:ext cx="58155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https://edugain.org</a:t>
            </a:r>
            <a:r>
              <a:rPr lang="en" sz="1100"/>
              <a:t> &amp; https://technical.edugain.org/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454525" y="390292"/>
            <a:ext cx="9390600" cy="75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use it for?</a:t>
            </a:r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26" y="3208175"/>
            <a:ext cx="6093399" cy="149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4" name="Google Shape;17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8150" y="1350854"/>
            <a:ext cx="5118976" cy="1664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5" name="Google Shape;17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8450" y="1052675"/>
            <a:ext cx="2456349" cy="3650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/>
        </p:nvSpPr>
        <p:spPr>
          <a:xfrm>
            <a:off x="1052665" y="2415224"/>
            <a:ext cx="75144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</a:t>
            </a:r>
            <a:r>
              <a:rPr b="1" lang="en" sz="1500"/>
              <a:t>OpenID Federation</a:t>
            </a:r>
            <a:r>
              <a:rPr lang="en" sz="1500"/>
              <a:t> specification is a </a:t>
            </a:r>
            <a:r>
              <a:rPr b="1" lang="en" sz="1500"/>
              <a:t>protocol independent</a:t>
            </a:r>
            <a:r>
              <a:rPr lang="en" sz="1500"/>
              <a:t> way of describing trust, already supporting </a:t>
            </a:r>
            <a:r>
              <a:rPr b="1" lang="en" sz="1500">
                <a:solidFill>
                  <a:schemeClr val="dk1"/>
                </a:solidFill>
              </a:rPr>
              <a:t>OAuth 2.0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OpenID Connect 1.0 </a:t>
            </a:r>
            <a:r>
              <a:rPr lang="en" sz="1500">
                <a:solidFill>
                  <a:schemeClr val="dk1"/>
                </a:solidFill>
              </a:rPr>
              <a:t>and</a:t>
            </a:r>
            <a:r>
              <a:rPr b="1" lang="en" sz="1500">
                <a:solidFill>
                  <a:schemeClr val="dk1"/>
                </a:solidFill>
              </a:rPr>
              <a:t> Wallets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82" name="Google Shape;1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133" y="741066"/>
            <a:ext cx="611395" cy="61281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1052662" y="1617536"/>
            <a:ext cx="781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R&amp;E Federations and </a:t>
            </a:r>
            <a:r>
              <a:rPr b="1" lang="en" sz="1500"/>
              <a:t>eduGAIN</a:t>
            </a:r>
            <a:r>
              <a:rPr lang="en" sz="1500"/>
              <a:t> are based on </a:t>
            </a:r>
            <a:r>
              <a:rPr b="1" lang="en" sz="1500"/>
              <a:t>SAML 2.0, which is a legacy protocol.</a:t>
            </a:r>
            <a:endParaRPr b="1" sz="1500"/>
          </a:p>
        </p:txBody>
      </p:sp>
      <p:pic>
        <p:nvPicPr>
          <p:cNvPr id="184" name="Google Shape;1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133" y="1570646"/>
            <a:ext cx="611395" cy="612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133" y="2415230"/>
            <a:ext cx="611395" cy="61281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1052665" y="3395772"/>
            <a:ext cx="7514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OpenID Federation</a:t>
            </a:r>
            <a:r>
              <a:rPr lang="en" sz="1500"/>
              <a:t> is both </a:t>
            </a:r>
            <a:r>
              <a:rPr b="1" lang="en" sz="1500"/>
              <a:t>real time and dynamic</a:t>
            </a:r>
            <a:r>
              <a:rPr lang="en" sz="1500">
                <a:solidFill>
                  <a:schemeClr val="dk1"/>
                </a:solidFill>
              </a:rPr>
              <a:t>, which is essential for </a:t>
            </a:r>
            <a:r>
              <a:rPr b="1" lang="en" sz="1500">
                <a:solidFill>
                  <a:schemeClr val="dk1"/>
                </a:solidFill>
              </a:rPr>
              <a:t>scalable and secure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/>
              <a:t>establishment of trust</a:t>
            </a:r>
            <a:endParaRPr sz="1500"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132" y="3395684"/>
            <a:ext cx="611395" cy="61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/>
          <p:nvPr/>
        </p:nvSpPr>
        <p:spPr>
          <a:xfrm>
            <a:off x="1052665" y="680271"/>
            <a:ext cx="7999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Research and Education needs a </a:t>
            </a:r>
            <a:r>
              <a:rPr b="1" lang="en" sz="1500"/>
              <a:t>global trust infrastructure </a:t>
            </a:r>
            <a:r>
              <a:rPr lang="en" sz="1500"/>
              <a:t>which can </a:t>
            </a:r>
            <a:r>
              <a:rPr b="1" lang="en" sz="1500"/>
              <a:t>span country, sector (and protocol) borders</a:t>
            </a:r>
            <a:endParaRPr b="1" sz="1500"/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20519" y="4869958"/>
            <a:ext cx="780031" cy="27354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9"/>
          <p:cNvSpPr txBox="1"/>
          <p:nvPr>
            <p:ph type="title"/>
          </p:nvPr>
        </p:nvSpPr>
        <p:spPr>
          <a:xfrm>
            <a:off x="340894" y="-50181"/>
            <a:ext cx="7042800" cy="564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eduGAIN and OpenID Federation: why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8589506" y="4876615"/>
            <a:ext cx="427200" cy="24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0"/>
          <p:cNvSpPr txBox="1"/>
          <p:nvPr>
            <p:ph type="title"/>
          </p:nvPr>
        </p:nvSpPr>
        <p:spPr>
          <a:xfrm>
            <a:off x="340894" y="-50181"/>
            <a:ext cx="7042800" cy="564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eduGAIN OpenID Federation Pilot: Participants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628644"/>
            <a:ext cx="8915402" cy="3771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589506" y="4876615"/>
            <a:ext cx="427200" cy="24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1"/>
          <p:cNvSpPr txBox="1"/>
          <p:nvPr/>
        </p:nvSpPr>
        <p:spPr>
          <a:xfrm>
            <a:off x="0" y="0"/>
            <a:ext cx="801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eduGAIN OIDF Pilot intermediate results</a:t>
            </a:r>
            <a:endParaRPr b="1"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885660"/>
            <a:ext cx="4464002" cy="3882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601" y="522900"/>
            <a:ext cx="4323937" cy="4239416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" name="Google Shape;208;p31"/>
          <p:cNvSpPr txBox="1"/>
          <p:nvPr/>
        </p:nvSpPr>
        <p:spPr>
          <a:xfrm>
            <a:off x="114300" y="4808325"/>
            <a:ext cx="58155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https://italia.github.io/openid-federation-browser/main/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589506" y="4876615"/>
            <a:ext cx="427200" cy="24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2"/>
          <p:cNvSpPr txBox="1"/>
          <p:nvPr>
            <p:ph type="title"/>
          </p:nvPr>
        </p:nvSpPr>
        <p:spPr>
          <a:xfrm>
            <a:off x="340894" y="-50181"/>
            <a:ext cx="7042800" cy="564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OpenID Federation &amp; Wallets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 rotWithShape="1">
          <a:blip r:embed="rId3">
            <a:alphaModFix/>
          </a:blip>
          <a:srcRect b="-840" l="0" r="0" t="840"/>
          <a:stretch/>
        </p:blipFill>
        <p:spPr>
          <a:xfrm>
            <a:off x="4727578" y="835237"/>
            <a:ext cx="4289203" cy="289648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/>
        </p:nvSpPr>
        <p:spPr>
          <a:xfrm>
            <a:off x="4692598" y="3717156"/>
            <a:ext cx="281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https://fidescommunity.github.io/DIIP/</a:t>
            </a:r>
            <a:endParaRPr sz="1100"/>
          </a:p>
        </p:txBody>
      </p:sp>
      <p:pic>
        <p:nvPicPr>
          <p:cNvPr id="218" name="Google Shape;2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" y="822800"/>
            <a:ext cx="4080562" cy="3606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2"/>
          <p:cNvSpPr txBox="1"/>
          <p:nvPr/>
        </p:nvSpPr>
        <p:spPr>
          <a:xfrm>
            <a:off x="198769" y="4564031"/>
            <a:ext cx="225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https://eduwallet.nl/en</a:t>
            </a:r>
            <a:endParaRPr sz="1100"/>
          </a:p>
        </p:txBody>
      </p:sp>
      <p:sp>
        <p:nvSpPr>
          <p:cNvPr id="220" name="Google Shape;220;p32"/>
          <p:cNvSpPr txBox="1"/>
          <p:nvPr/>
        </p:nvSpPr>
        <p:spPr>
          <a:xfrm>
            <a:off x="4692605" y="3882699"/>
            <a:ext cx="59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https://openid.net/specs/openid-federation-wallet-1_0.html</a:t>
            </a:r>
            <a:endParaRPr sz="1100"/>
          </a:p>
        </p:txBody>
      </p:sp>
      <p:sp>
        <p:nvSpPr>
          <p:cNvPr id="221" name="Google Shape;221;p32"/>
          <p:cNvSpPr txBox="1"/>
          <p:nvPr/>
        </p:nvSpPr>
        <p:spPr>
          <a:xfrm>
            <a:off x="188825" y="4752875"/>
            <a:ext cx="586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TUE 21 15.55 B 09 - “EUDI Wallets in Practice: Early Adoption &amp; Lessons Learned II“ </a:t>
            </a:r>
            <a:endParaRPr b="1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558265" y="1640558"/>
            <a:ext cx="74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ve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penID Foundation">
  <a:themeElements>
    <a:clrScheme name="OpenID">
      <a:dk1>
        <a:srgbClr val="000000"/>
      </a:dk1>
      <a:lt1>
        <a:srgbClr val="FFFFFF"/>
      </a:lt1>
      <a:dk2>
        <a:srgbClr val="B3B3B3"/>
      </a:dk2>
      <a:lt2>
        <a:srgbClr val="F7931E"/>
      </a:lt2>
      <a:accent1>
        <a:srgbClr val="FDE9D2"/>
      </a:accent1>
      <a:accent2>
        <a:srgbClr val="BCBCBE"/>
      </a:accent2>
      <a:accent3>
        <a:srgbClr val="251EF7"/>
      </a:accent3>
      <a:accent4>
        <a:srgbClr val="1EF0F7"/>
      </a:accent4>
      <a:accent5>
        <a:srgbClr val="1EF793"/>
      </a:accent5>
      <a:accent6>
        <a:srgbClr val="931EF7"/>
      </a:accent6>
      <a:hlink>
        <a:srgbClr val="1E82F7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End Slid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andard layo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